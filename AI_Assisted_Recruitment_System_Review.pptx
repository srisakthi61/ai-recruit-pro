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6583680" cy="5303520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" y="960120"/>
            <a:ext cx="3931920" cy="347472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FULL STACK DEVELOPMENT (FSD) MINI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508760"/>
            <a:ext cx="5943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B2A2E"/>
                </a:solidFill>
                <a:latin typeface="Calibri"/>
              </a:defRPr>
            </a:pPr>
            <a:r>
              <a:t>AI-ASSISTED RECRUITMENT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788920"/>
            <a:ext cx="5943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E5C58"/>
                </a:solidFill>
                <a:latin typeface="Calibri"/>
              </a:defRPr>
            </a:pPr>
            <a:r>
              <a:t>An Enterprise Talent Acquisition Platform Featuring Modular NLP Resume Ingestion, Weighted Multi-Factor Fit Scoring, and a 6-Stage Kanban Pipeline.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3886200"/>
            <a:ext cx="17830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B2A2E"/>
                </a:solidFill>
                <a:latin typeface="Calibri"/>
              </a:defRPr>
            </a:pPr>
            <a:r>
              <a:t>MERN Stack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3886200"/>
            <a:ext cx="17830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B2A2E"/>
                </a:solidFill>
                <a:latin typeface="Calibri"/>
              </a:defRPr>
            </a:pPr>
            <a:r>
              <a:t>React 19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886200"/>
            <a:ext cx="17830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B2A2E"/>
                </a:solidFill>
                <a:latin typeface="Calibri"/>
              </a:defRPr>
            </a:pPr>
            <a:r>
              <a:t>Node.js &amp; Express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4297680"/>
            <a:ext cx="17830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B2A2E"/>
                </a:solidFill>
                <a:latin typeface="Calibri"/>
              </a:defRPr>
            </a:pPr>
            <a:r>
              <a:t>MongoDB &amp; Mongoose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71800" y="4297680"/>
            <a:ext cx="17830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B2A2E"/>
                </a:solidFill>
                <a:latin typeface="Calibri"/>
              </a:defRPr>
            </a:pPr>
            <a:r>
              <a:t>Modular NLP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4297680"/>
            <a:ext cx="1783080" cy="320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1B2A2E"/>
                </a:solidFill>
                <a:latin typeface="Calibri"/>
              </a:defRPr>
            </a:pPr>
            <a:r>
              <a:t>TF-IDF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50292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028090"/>
                </a:solidFill>
                <a:latin typeface="Calibri"/>
              </a:defRPr>
            </a:pPr>
            <a:r>
              <a:t>Presentation: Project Review 1 &amp; 2  |  Academic Year 2026–2027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640080"/>
            <a:ext cx="3840480" cy="5303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589520" y="640080"/>
            <a:ext cx="3840480" cy="640080"/>
          </a:xfrm>
          <a:prstGeom prst="rect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PROJECT CREDENTIALS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1463040"/>
            <a:ext cx="3383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50" b="1">
                <a:solidFill>
                  <a:srgbClr val="7A8F8C"/>
                </a:solidFill>
                <a:latin typeface="Calibri"/>
              </a:defRPr>
            </a:pPr>
            <a:r>
              <a:t>CANDIDATE NAME</a:t>
            </a:r>
          </a:p>
          <a:p>
            <a:pPr>
              <a:spcAft>
                <a:spcPts val="4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S. Srisakthi</a:t>
            </a:r>
          </a:p>
          <a:p>
            <a:pPr>
              <a:defRPr sz="750" b="1">
                <a:solidFill>
                  <a:srgbClr val="7A8F8C"/>
                </a:solidFill>
                <a:latin typeface="Calibri"/>
              </a:defRPr>
            </a:pPr>
            <a:r>
              <a:t>REGISTRATION NUMBER</a:t>
            </a:r>
          </a:p>
          <a:p>
            <a:pPr>
              <a:spcAft>
                <a:spcPts val="4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310624205269</a:t>
            </a:r>
          </a:p>
          <a:p>
            <a:pPr>
              <a:defRPr sz="750" b="1">
                <a:solidFill>
                  <a:srgbClr val="7A8F8C"/>
                </a:solidFill>
                <a:latin typeface="Calibri"/>
              </a:defRPr>
            </a:pPr>
            <a:r>
              <a:t>DEGREE &amp; BRANCH</a:t>
            </a:r>
          </a:p>
          <a:p>
            <a:pPr>
              <a:spcAft>
                <a:spcPts val="400"/>
              </a:spcAft>
              <a:defRPr sz="1000" b="0">
                <a:solidFill>
                  <a:srgbClr val="1B2A2E"/>
                </a:solidFill>
                <a:latin typeface="Calibri"/>
              </a:defRPr>
            </a:pPr>
            <a:r>
              <a:t>B.Tech. Information Technology</a:t>
            </a:r>
          </a:p>
          <a:p>
            <a:pPr>
              <a:defRPr sz="750" b="1">
                <a:solidFill>
                  <a:srgbClr val="7A8F8C"/>
                </a:solidFill>
                <a:latin typeface="Calibri"/>
              </a:defRPr>
            </a:pPr>
            <a:r>
              <a:t>INSTITUTION</a:t>
            </a:r>
          </a:p>
          <a:p>
            <a:pPr>
              <a:spcAft>
                <a:spcPts val="4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Easwari Engineering College (Autonomous)</a:t>
            </a:r>
          </a:p>
          <a:p>
            <a:pPr>
              <a:defRPr sz="750" b="1">
                <a:solidFill>
                  <a:srgbClr val="7A8F8C"/>
                </a:solidFill>
                <a:latin typeface="Calibri"/>
              </a:defRPr>
            </a:pPr>
            <a:r>
              <a:t>AFFILIATION</a:t>
            </a:r>
          </a:p>
          <a:p>
            <a:pPr>
              <a:spcAft>
                <a:spcPts val="400"/>
              </a:spcAft>
              <a:defRPr sz="1000" b="0">
                <a:solidFill>
                  <a:srgbClr val="1B2A2E"/>
                </a:solidFill>
                <a:latin typeface="Calibri"/>
              </a:defRPr>
            </a:pPr>
            <a:r>
              <a:t>Affiliated to Anna University, Chennai</a:t>
            </a:r>
          </a:p>
          <a:p>
            <a:pPr>
              <a:defRPr sz="750" b="1">
                <a:solidFill>
                  <a:srgbClr val="7A8F8C"/>
                </a:solidFill>
                <a:latin typeface="Calibri"/>
              </a:defRPr>
            </a:pPr>
            <a:r>
              <a:t>CAMPUS LOCATION</a:t>
            </a:r>
          </a:p>
          <a:p>
            <a:pPr>
              <a:spcAft>
                <a:spcPts val="400"/>
              </a:spcAft>
              <a:defRPr sz="1000" b="0">
                <a:solidFill>
                  <a:srgbClr val="1B2A2E"/>
                </a:solidFill>
                <a:latin typeface="Calibri"/>
              </a:defRPr>
            </a:pPr>
            <a:r>
              <a:t>Ramapuram, Chennai, Tamil Nadu – 600089</a:t>
            </a:r>
          </a:p>
          <a:p>
            <a:pPr>
              <a:defRPr sz="750" b="1">
                <a:solidFill>
                  <a:srgbClr val="7A8F8C"/>
                </a:solidFill>
                <a:latin typeface="Calibri"/>
              </a:defRPr>
            </a:pPr>
            <a:r>
              <a:t>DEPARTMENT</a:t>
            </a:r>
          </a:p>
          <a:p>
            <a:pPr>
              <a:spcAft>
                <a:spcPts val="400"/>
              </a:spcAft>
              <a:defRPr sz="1000" b="0">
                <a:solidFill>
                  <a:srgbClr val="1B2A2E"/>
                </a:solidFill>
                <a:latin typeface="Calibri"/>
              </a:defRPr>
            </a:pPr>
            <a:r>
              <a:t>Department of Information Technology</a:t>
            </a:r>
          </a:p>
          <a:p>
            <a:pPr>
              <a:defRPr sz="750" b="1">
                <a:solidFill>
                  <a:srgbClr val="7A8F8C"/>
                </a:solidFill>
                <a:latin typeface="Calibri"/>
              </a:defRPr>
            </a:pPr>
            <a:r>
              <a:t>SUBMISSION DATE</a:t>
            </a:r>
          </a:p>
          <a:p>
            <a:pPr>
              <a:spcAft>
                <a:spcPts val="400"/>
              </a:spcAft>
              <a:defRPr sz="1000" b="0">
                <a:solidFill>
                  <a:srgbClr val="1B2A2E"/>
                </a:solidFill>
                <a:latin typeface="Calibri"/>
              </a:defRPr>
            </a:pPr>
            <a:r>
              <a:t>October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AI-Assisted Recruitment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Scope of This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6696" y="1700784"/>
            <a:ext cx="4937760" cy="3977639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C39A"/>
                </a:solidFill>
                <a:latin typeface="Calibri"/>
              </a:defRPr>
            </a:pPr>
            <a:r>
              <a:t>PART I: ARCHITECTURE &amp; SPECIFICATIONS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331720"/>
            <a:ext cx="4389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01   Requirements (Functional &amp; Non-Functional)</a:t>
            </a:r>
          </a:p>
          <a:p>
            <a:pPr>
              <a:spcAft>
                <a:spcPts val="120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02   Detailed System Architecture &amp; Multi-Tier Flow</a:t>
            </a:r>
          </a:p>
          <a:p>
            <a:pPr>
              <a:spcAft>
                <a:spcPts val="120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03   UML Use Case Diagram (Actors &amp; Subsystems)</a:t>
            </a:r>
          </a:p>
          <a:p>
            <a:pPr>
              <a:spcAft>
                <a:spcPts val="120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04   ER Diagram / Database Design &amp; Schema Models</a:t>
            </a:r>
          </a:p>
          <a:p>
            <a:pPr>
              <a:spcAft>
                <a:spcPts val="1200"/>
              </a:spcAft>
              <a:defRPr sz="1150" b="1">
                <a:solidFill>
                  <a:srgbClr val="FFFFFF"/>
                </a:solidFill>
                <a:latin typeface="Calibri"/>
              </a:defRPr>
            </a:pPr>
            <a:r>
              <a:t>05   Module Description &amp; Core Responsibilities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00784"/>
            <a:ext cx="4937760" cy="3977639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74519"/>
            <a:ext cx="4389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090"/>
                </a:solidFill>
                <a:latin typeface="Calibri"/>
              </a:defRPr>
            </a:pPr>
            <a:r>
              <a:t>PART II: IMPLEMENTATION &amp; VERIFICATION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331720"/>
            <a:ext cx="4389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150" b="1">
                <a:solidFill>
                  <a:srgbClr val="1B2A2E"/>
                </a:solidFill>
                <a:latin typeface="Calibri"/>
              </a:defRPr>
            </a:pPr>
            <a:r>
              <a:t>06   Technology Stack &amp; Supporting Libraries</a:t>
            </a:r>
          </a:p>
          <a:p>
            <a:pPr>
              <a:spcAft>
                <a:spcPts val="1200"/>
              </a:spcAft>
              <a:defRPr sz="1150" b="1">
                <a:solidFill>
                  <a:srgbClr val="1B2A2E"/>
                </a:solidFill>
                <a:latin typeface="Calibri"/>
              </a:defRPr>
            </a:pPr>
            <a:r>
              <a:t>07   UI Design / Wireframes &amp; Screen Architecture</a:t>
            </a:r>
          </a:p>
          <a:p>
            <a:pPr>
              <a:spcAft>
                <a:spcPts val="1200"/>
              </a:spcAft>
              <a:defRPr sz="1150" b="1">
                <a:solidFill>
                  <a:srgbClr val="1B2A2E"/>
                </a:solidFill>
                <a:latin typeface="Calibri"/>
              </a:defRPr>
            </a:pPr>
            <a:r>
              <a:t>08   Frontend &amp; Backend Development Details</a:t>
            </a:r>
          </a:p>
          <a:p>
            <a:pPr>
              <a:spcAft>
                <a:spcPts val="1200"/>
              </a:spcAft>
              <a:defRPr sz="1150" b="1">
                <a:solidFill>
                  <a:srgbClr val="1B2A2E"/>
                </a:solidFill>
                <a:latin typeface="Calibri"/>
              </a:defRPr>
            </a:pPr>
            <a:r>
              <a:t>09   Database Integration &amp; Verified REST APIs</a:t>
            </a:r>
          </a:p>
          <a:p>
            <a:pPr>
              <a:spcAft>
                <a:spcPts val="1200"/>
              </a:spcAft>
              <a:defRPr sz="1150" b="1">
                <a:solidFill>
                  <a:srgbClr val="1B2A2E"/>
                </a:solidFill>
                <a:latin typeface="Calibri"/>
              </a:defRPr>
            </a:pPr>
            <a:r>
              <a:t>10   Implementation Status, Screenshots, Challenges &amp; 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Agenda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Functional &amp; Non-Functional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691640"/>
            <a:ext cx="4846320" cy="4526280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1874519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A896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24028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1B2A2E"/>
                </a:solidFill>
                <a:latin typeface="Calibri"/>
              </a:defRPr>
            </a:pPr>
            <a:r>
              <a:t>•  User Registration &amp; Authentication: </a:t>
            </a:r>
            <a:r>
              <a:rPr sz="950" b="0">
                <a:solidFill>
                  <a:srgbClr val="3E5C58"/>
                </a:solidFill>
                <a:latin typeface="Calibri"/>
              </a:rPr>
              <a:t>Dual-role authentication (Recruiter &amp; Candidate) with JWT Bearer tokens and role-protected routes.</a:t>
            </a:r>
          </a:p>
          <a:p>
            <a:pPr>
              <a:spcAft>
                <a:spcPts val="600"/>
              </a:spcAft>
              <a:defRPr sz="950" b="1">
                <a:solidFill>
                  <a:srgbClr val="1B2A2E"/>
                </a:solidFill>
                <a:latin typeface="Calibri"/>
              </a:defRPr>
            </a:pPr>
            <a:r>
              <a:t>•  Modular NLP Resume Parser: </a:t>
            </a:r>
            <a:r>
              <a:rPr sz="950" b="0">
                <a:solidFill>
                  <a:srgbClr val="3E5C58"/>
                </a:solidFill>
                <a:latin typeface="Calibri"/>
              </a:rPr>
              <a:t>Ingestion of PDF, DOCX, and TXT resumes with automated extraction of contacts, experience, and 500+ skills taxonomy.</a:t>
            </a:r>
          </a:p>
          <a:p>
            <a:pPr>
              <a:spcAft>
                <a:spcPts val="600"/>
              </a:spcAft>
              <a:defRPr sz="950" b="1">
                <a:solidFill>
                  <a:srgbClr val="1B2A2E"/>
                </a:solidFill>
                <a:latin typeface="Calibri"/>
              </a:defRPr>
            </a:pPr>
            <a:r>
              <a:t>•  Job Requisition Management: </a:t>
            </a:r>
            <a:r>
              <a:rPr sz="950" b="0">
                <a:solidFill>
                  <a:srgbClr val="3E5C58"/>
                </a:solidFill>
                <a:latin typeface="Calibri"/>
              </a:rPr>
              <a:t>Full CRUD operations for vacancies with required skills, experience boundaries, and education thresholds.</a:t>
            </a:r>
          </a:p>
          <a:p>
            <a:pPr>
              <a:spcAft>
                <a:spcPts val="600"/>
              </a:spcAft>
              <a:defRPr sz="950" b="1">
                <a:solidFill>
                  <a:srgbClr val="1B2A2E"/>
                </a:solidFill>
                <a:latin typeface="Calibri"/>
              </a:defRPr>
            </a:pPr>
            <a:r>
              <a:t>•  Multi-Factor AI Candidate Matching: </a:t>
            </a:r>
            <a:r>
              <a:rPr sz="950" b="0">
                <a:solidFill>
                  <a:srgbClr val="3E5C58"/>
                </a:solidFill>
                <a:latin typeface="Calibri"/>
              </a:rPr>
              <a:t>Deterministic candidate-to-job compatibility scoring (50% skills, 25% exp, 15% edu, 10% TF-IDF semantic fit).</a:t>
            </a:r>
          </a:p>
          <a:p>
            <a:pPr>
              <a:spcAft>
                <a:spcPts val="600"/>
              </a:spcAft>
              <a:defRPr sz="950" b="1">
                <a:solidFill>
                  <a:srgbClr val="1B2A2E"/>
                </a:solidFill>
                <a:latin typeface="Calibri"/>
              </a:defRPr>
            </a:pPr>
            <a:r>
              <a:t>•  6-Stage Kanban Shortlisting Pipeline: </a:t>
            </a:r>
            <a:r>
              <a:rPr sz="950" b="0">
                <a:solidFill>
                  <a:srgbClr val="3E5C58"/>
                </a:solidFill>
                <a:latin typeface="Calibri"/>
              </a:rPr>
              <a:t>Visual applicant progression (Applied to Screened, Shortlisted, Interview Scheduled, Selected, or Rejected).</a:t>
            </a:r>
          </a:p>
          <a:p>
            <a:pPr>
              <a:spcAft>
                <a:spcPts val="600"/>
              </a:spcAft>
              <a:defRPr sz="950" b="1">
                <a:solidFill>
                  <a:srgbClr val="1B2A2E"/>
                </a:solidFill>
                <a:latin typeface="Calibri"/>
              </a:defRPr>
            </a:pPr>
            <a:r>
              <a:t>•  Interview Scheduling &amp; Alerts: </a:t>
            </a:r>
            <a:r>
              <a:rPr sz="950" b="0">
                <a:solidFill>
                  <a:srgbClr val="3E5C58"/>
                </a:solidFill>
                <a:latin typeface="Calibri"/>
              </a:rPr>
              <a:t>Integrated interview scheduler with Google Meet/Zoom links, round types, and candidate dashboard alerts.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91640"/>
            <a:ext cx="4846320" cy="4526280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74519"/>
            <a:ext cx="4389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28090"/>
                </a:solidFill>
                <a:latin typeface="Calibri"/>
              </a:defRPr>
            </a:pPr>
            <a:r>
              <a:t>Non-Functional Requirements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40280"/>
            <a:ext cx="4389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50" b="1">
                <a:solidFill>
                  <a:srgbClr val="1B2A2E"/>
                </a:solidFill>
                <a:latin typeface="Calibri"/>
              </a:defRPr>
            </a:pPr>
            <a:r>
              <a:t>•  Security &amp; Data Protection: </a:t>
            </a:r>
            <a:r>
              <a:rPr sz="950" b="0">
                <a:solidFill>
                  <a:srgbClr val="3E5C58"/>
                </a:solidFill>
                <a:latin typeface="Calibri"/>
              </a:rPr>
              <a:t>Bcrypt password hashing (10 salt rounds), secure HTTP Bearer JWT tokens, and RBAC middleware protecting private routes.</a:t>
            </a:r>
          </a:p>
          <a:p>
            <a:pPr>
              <a:spcAft>
                <a:spcPts val="600"/>
              </a:spcAft>
              <a:defRPr sz="950" b="1">
                <a:solidFill>
                  <a:srgbClr val="1B2A2E"/>
                </a:solidFill>
                <a:latin typeface="Calibri"/>
              </a:defRPr>
            </a:pPr>
            <a:r>
              <a:t>•  Performance &amp; Low Latency: </a:t>
            </a:r>
            <a:r>
              <a:rPr sz="950" b="0">
                <a:solidFill>
                  <a:srgbClr val="3E5C58"/>
                </a:solidFill>
                <a:latin typeface="Calibri"/>
              </a:rPr>
              <a:t>In-memory NLP parsing &amp; TF-IDF scoring executing in &lt; 1.2s; indexed database lookups under 30ms.</a:t>
            </a:r>
          </a:p>
          <a:p>
            <a:pPr>
              <a:spcAft>
                <a:spcPts val="600"/>
              </a:spcAft>
              <a:defRPr sz="950" b="1">
                <a:solidFill>
                  <a:srgbClr val="1B2A2E"/>
                </a:solidFill>
                <a:latin typeface="Calibri"/>
              </a:defRPr>
            </a:pPr>
            <a:r>
              <a:t>•  Scalability &amp; Decoupled Services: </a:t>
            </a:r>
            <a:r>
              <a:rPr sz="950" b="0">
                <a:solidFill>
                  <a:srgbClr val="3E5C58"/>
                </a:solidFill>
                <a:latin typeface="Calibri"/>
              </a:rPr>
              <a:t>Stateless Express REST API services, decoupled NLP engine, and scalable Mongoose domain models.</a:t>
            </a:r>
          </a:p>
          <a:p>
            <a:pPr>
              <a:spcAft>
                <a:spcPts val="600"/>
              </a:spcAft>
              <a:defRPr sz="950" b="1">
                <a:solidFill>
                  <a:srgbClr val="1B2A2E"/>
                </a:solidFill>
                <a:latin typeface="Calibri"/>
              </a:defRPr>
            </a:pPr>
            <a:r>
              <a:t>•  Usability &amp; Modern Interface: </a:t>
            </a:r>
            <a:r>
              <a:rPr sz="950" b="0">
                <a:solidFill>
                  <a:srgbClr val="3E5C58"/>
                </a:solidFill>
                <a:latin typeface="Calibri"/>
              </a:rPr>
              <a:t>Responsive React 19 UI with Tailwind CSS v4 dark mode aesthetics, interactive modals, and confetti celebrations.</a:t>
            </a:r>
          </a:p>
          <a:p>
            <a:pPr>
              <a:spcAft>
                <a:spcPts val="600"/>
              </a:spcAft>
              <a:defRPr sz="950" b="1">
                <a:solidFill>
                  <a:srgbClr val="1B2A2E"/>
                </a:solidFill>
                <a:latin typeface="Calibri"/>
              </a:defRPr>
            </a:pPr>
            <a:r>
              <a:t>•  Reliability &amp; Data Consistency: </a:t>
            </a:r>
            <a:r>
              <a:rPr sz="950" b="0">
                <a:solidFill>
                  <a:srgbClr val="3E5C58"/>
                </a:solidFill>
                <a:latin typeface="Calibri"/>
              </a:rPr>
              <a:t>Compound unique indexing on (job, candidate), transaction audit logging via stageHistory arrays.</a:t>
            </a:r>
          </a:p>
          <a:p>
            <a:pPr>
              <a:spcAft>
                <a:spcPts val="600"/>
              </a:spcAft>
              <a:defRPr sz="950" b="1">
                <a:solidFill>
                  <a:srgbClr val="1B2A2E"/>
                </a:solidFill>
                <a:latin typeface="Calibri"/>
              </a:defRPr>
            </a:pPr>
            <a:r>
              <a:t>•  Maintainability &amp; Clean Architecture: </a:t>
            </a:r>
            <a:r>
              <a:rPr sz="950" b="0">
                <a:solidFill>
                  <a:srgbClr val="3E5C58"/>
                </a:solidFill>
                <a:latin typeface="Calibri"/>
              </a:rPr>
              <a:t>Strict separation of concerns (Routes, Controllers, Services, Models, Context API) for seamless extensibility.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Detailed 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645920"/>
            <a:ext cx="2926080" cy="123444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2743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CLIENT TIER</a:t>
            </a:r>
          </a:p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React 19 SPA, Tailwind CSS v4,</a:t>
            </a:r>
            <a:br/>
            <a:r>
              <a:t>Axios REST Client, React Router v7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011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28090"/>
                </a:solidFill>
              </a:defRPr>
            </a:pPr>
            <a:r>
              <a:t>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645920"/>
            <a:ext cx="2926080" cy="123444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737360"/>
            <a:ext cx="27432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APPLICATION TIER</a:t>
            </a:r>
          </a:p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Node.js + Express.js REST API,</a:t>
            </a:r>
            <a:br/>
            <a:r>
              <a:t>JWT RBAC, Multer, NLP &amp; Scoring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0116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28090"/>
                </a:solidFill>
              </a:defRPr>
            </a:pPr>
            <a:r>
              <a:t>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645920"/>
            <a:ext cx="2834640" cy="1234440"/>
          </a:xfrm>
          <a:prstGeom prst="roundRect">
            <a:avLst/>
          </a:prstGeom>
          <a:solidFill>
            <a:srgbClr val="1B2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737360"/>
            <a:ext cx="26517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DATA TIER</a:t>
            </a:r>
          </a:p>
          <a:p>
            <a:pPr algn="ctr">
              <a:defRPr sz="900">
                <a:solidFill>
                  <a:srgbClr val="FFFFFF"/>
                </a:solidFill>
                <a:latin typeface="Calibri"/>
              </a:defRPr>
            </a:pPr>
            <a:r>
              <a:t>MongoDB NoSQL Database,</a:t>
            </a:r>
            <a:br/>
            <a:r>
              <a:t>Mongoose ODM, Compound Indexing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3017520"/>
            <a:ext cx="996696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3035808"/>
            <a:ext cx="9930384" cy="247802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1097280" y="5650992"/>
            <a:ext cx="9966960" cy="566928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760720"/>
            <a:ext cx="9509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i="1">
                <a:solidFill>
                  <a:srgbClr val="3E5C58"/>
                </a:solidFill>
                <a:latin typeface="Calibri"/>
              </a:defRPr>
            </a:pPr>
            <a:r>
              <a:t>Request Flow: HTTP/HTTPS requests flow from the React client through Express REST routes &amp; NLP matching services to MongoDB, with validated JSON responses returned along the same path.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Use Case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6949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use_c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1709928"/>
            <a:ext cx="6912864" cy="44897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1691640"/>
            <a:ext cx="2834640" cy="4526280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874519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090"/>
                </a:solidFill>
                <a:latin typeface="Calibri"/>
              </a:defRPr>
            </a:pPr>
            <a:r>
              <a:t>Actors &amp;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4028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850" b="1">
                <a:solidFill>
                  <a:srgbClr val="1B2A2E"/>
                </a:solidFill>
                <a:latin typeface="Calibri"/>
              </a:defRPr>
            </a:pPr>
            <a:r>
              <a:t>Candidate Actor: </a:t>
            </a:r>
            <a:r>
              <a:rPr sz="850">
                <a:solidFill>
                  <a:srgbClr val="3E5C58"/>
                </a:solidFill>
                <a:latin typeface="Calibri"/>
              </a:rPr>
              <a:t>Registers account, uploads PDF/DOCX resume, parses contact &amp; skills, browses jobs, submits 1-click applications, tracks stages &amp; interview links.</a:t>
            </a:r>
          </a:p>
          <a:p>
            <a:pPr>
              <a:spcAft>
                <a:spcPts val="800"/>
              </a:spcAft>
              <a:defRPr sz="850" b="1">
                <a:solidFill>
                  <a:srgbClr val="1B2A2E"/>
                </a:solidFill>
                <a:latin typeface="Calibri"/>
              </a:defRPr>
            </a:pPr>
            <a:r>
              <a:t>Recruiter Actor: </a:t>
            </a:r>
            <a:r>
              <a:rPr sz="850">
                <a:solidFill>
                  <a:srgbClr val="3E5C58"/>
                </a:solidFill>
                <a:latin typeface="Calibri"/>
              </a:rPr>
              <a:t>Posts &amp; manages job requisitions, inspects AI ranked candidates with score breakdowns, advances Kanban stages, and schedules interviews.</a:t>
            </a:r>
          </a:p>
          <a:p>
            <a:pPr>
              <a:spcAft>
                <a:spcPts val="800"/>
              </a:spcAft>
              <a:defRPr sz="850" b="1">
                <a:solidFill>
                  <a:srgbClr val="1B2A2E"/>
                </a:solidFill>
                <a:latin typeface="Calibri"/>
              </a:defRPr>
            </a:pPr>
            <a:r>
              <a:t>NLP &amp; AI Subsystem: </a:t>
            </a:r>
            <a:r>
              <a:rPr sz="850">
                <a:solidFill>
                  <a:srgbClr val="3E5C58"/>
                </a:solidFill>
                <a:latin typeface="Calibri"/>
              </a:rPr>
              <a:t>Automated &lt;&lt;include&gt;&gt; dependencies execute document text extraction, taxonomy mapping, and weighted multi-factor compatibility evaluation.</a:t>
            </a:r>
          </a:p>
          <a:p>
            <a:pPr>
              <a:spcAft>
                <a:spcPts val="800"/>
              </a:spcAft>
              <a:defRPr sz="850" b="1">
                <a:solidFill>
                  <a:srgbClr val="1B2A2E"/>
                </a:solidFill>
                <a:latin typeface="Calibri"/>
              </a:defRPr>
            </a:pPr>
            <a:r>
              <a:t>Audit Subsystem: </a:t>
            </a:r>
            <a:r>
              <a:rPr sz="850">
                <a:solidFill>
                  <a:srgbClr val="3E5C58"/>
                </a:solidFill>
                <a:latin typeface="Calibri"/>
              </a:rPr>
              <a:t>Automatically captures timestamped stage transitions into the application history.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Use Case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ER Diagram / Database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6949440" cy="4526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1709928"/>
            <a:ext cx="6912864" cy="44897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0" y="1691640"/>
            <a:ext cx="2834640" cy="4526280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874519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A896"/>
                </a:solidFill>
                <a:latin typeface="Calibri"/>
              </a:defRPr>
            </a:pPr>
            <a:r>
              <a:t>Schema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2240280"/>
            <a:ext cx="2560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850" b="1">
                <a:solidFill>
                  <a:srgbClr val="1B2A2E"/>
                </a:solidFill>
                <a:latin typeface="Calibri"/>
              </a:defRPr>
            </a:pPr>
            <a:r>
              <a:t>Users Collection: </a:t>
            </a:r>
            <a:r>
              <a:rPr sz="850">
                <a:solidFill>
                  <a:srgbClr val="3E5C58"/>
                </a:solidFill>
                <a:latin typeface="Calibri"/>
              </a:rPr>
              <a:t>Central identity store with unique email index, bcrypt hash, and role discriminator ('recruiter' vs 'candidate').</a:t>
            </a:r>
          </a:p>
          <a:p>
            <a:pPr>
              <a:spcAft>
                <a:spcPts val="600"/>
              </a:spcAft>
              <a:defRPr sz="850" b="1">
                <a:solidFill>
                  <a:srgbClr val="1B2A2E"/>
                </a:solidFill>
                <a:latin typeface="Calibri"/>
              </a:defRPr>
            </a:pPr>
            <a:r>
              <a:t>Jobs Collection: </a:t>
            </a:r>
            <a:r>
              <a:rPr sz="850">
                <a:solidFill>
                  <a:srgbClr val="3E5C58"/>
                </a:solidFill>
                <a:latin typeface="Calibri"/>
              </a:rPr>
              <a:t>Vacancy specifications referencing the recruiter User ID, with requiredSkills arrays, min/max experience, and education levels.</a:t>
            </a:r>
          </a:p>
          <a:p>
            <a:pPr>
              <a:spcAft>
                <a:spcPts val="600"/>
              </a:spcAft>
              <a:defRPr sz="850" b="1">
                <a:solidFill>
                  <a:srgbClr val="1B2A2E"/>
                </a:solidFill>
                <a:latin typeface="Calibri"/>
              </a:defRPr>
            </a:pPr>
            <a:r>
              <a:t>CandidateProfiles: </a:t>
            </a:r>
            <a:r>
              <a:rPr sz="850">
                <a:solidFill>
                  <a:srgbClr val="3E5C58"/>
                </a:solidFill>
                <a:latin typeface="Calibri"/>
              </a:rPr>
              <a:t>Structured resume data referencing candidate User ID, containing parsed taxonomy skills, experience duration, and file metadata.</a:t>
            </a:r>
          </a:p>
          <a:p>
            <a:pPr>
              <a:spcAft>
                <a:spcPts val="600"/>
              </a:spcAft>
              <a:defRPr sz="850" b="1">
                <a:solidFill>
                  <a:srgbClr val="1B2A2E"/>
                </a:solidFill>
                <a:latin typeface="Calibri"/>
              </a:defRPr>
            </a:pPr>
            <a:r>
              <a:t>Applications Collection: </a:t>
            </a:r>
            <a:r>
              <a:rPr sz="850">
                <a:solidFill>
                  <a:srgbClr val="3E5C58"/>
                </a:solidFill>
                <a:latin typeface="Calibri"/>
              </a:rPr>
              <a:t>Junction entity referencing Job, Candidate User, and CandidateProfile with compound unique index (job, candidate).</a:t>
            </a:r>
          </a:p>
          <a:p>
            <a:pPr>
              <a:spcAft>
                <a:spcPts val="600"/>
              </a:spcAft>
              <a:defRPr sz="850" b="1">
                <a:solidFill>
                  <a:srgbClr val="1B2A2E"/>
                </a:solidFill>
                <a:latin typeface="Calibri"/>
              </a:defRPr>
            </a:pPr>
            <a:r>
              <a:t>Embedded Subdocuments: </a:t>
            </a:r>
            <a:r>
              <a:rPr sz="850">
                <a:solidFill>
                  <a:srgbClr val="3E5C58"/>
                </a:solidFill>
                <a:latin typeface="Calibri"/>
              </a:rPr>
              <a:t>Arrays for stageHistory, experience, and education deliver high read performance without joins.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ER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Module Description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691640"/>
          <a:ext cx="9966960" cy="4357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931920"/>
                <a:gridCol w="3840480"/>
              </a:tblGrid>
              <a:tr h="627017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Module</a:t>
                      </a:r>
                    </a:p>
                  </a:txBody>
                  <a:tcPr anchor="ctr">
                    <a:solidFill>
                      <a:srgbClr val="00A8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Description</a:t>
                      </a:r>
                    </a:p>
                  </a:txBody>
                  <a:tcPr anchor="ctr">
                    <a:solidFill>
                      <a:srgbClr val="00A8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Functions</a:t>
                      </a:r>
                    </a:p>
                  </a:txBody>
                  <a:tcPr anchor="ctr">
                    <a:solidFill>
                      <a:srgbClr val="00A89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User Authentication &amp; RBAC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Secure identity and session management for Recruiters and Candidates.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Registration, Login, JWT Token Issuance, Bcrypt Password Hashing, RBAC Middleware.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Job Requisition Management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Complete administration of job postings, criteria, and skill requirements.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Job Creation, Edit, Delete, Skill Tag Filters, Minimum Experience &amp; Education Setting.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Modular NLP Resume Parser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Automated ingestion and entity extraction from unstructured resume files.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PDF/DOCX/TXT Binary Ingestion, 500+ Skill Taxonomy Extraction, Experience &amp; Degree Calculation.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Multi-Factor AI Matching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Deterministic mathematical scoring and ranking of candidate-job fit.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50% Skills, 25% Experience, 15% Education, 10% TF-IDF Semantic Relevance, Fit Recommendation Tiers.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6-Stage Kanban Pipeline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Visual applicant progression tracking through hiring stages.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Stage Advancement (Applied to Selected/Rejected), Stage Audit History Logging, Recruiter Notes.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Interview Scheduling &amp; Stats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Collaborative interview coordination and high-level talent metrics.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Meeting Link Assignment, Round Type Selection, Recruiter Funnel Metrics, Candidate Tracker.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691640"/>
            <a:ext cx="2331720" cy="1965960"/>
          </a:xfrm>
          <a:prstGeom prst="roundRect">
            <a:avLst/>
          </a:prstGeom>
          <a:solidFill>
            <a:srgbClr val="F4FAF9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39" y="1783080"/>
            <a:ext cx="2057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A896"/>
                </a:solidFill>
                <a:latin typeface="Calibri"/>
              </a:defRPr>
            </a:pPr>
            <a:r>
              <a:t>MongoDB</a:t>
            </a:r>
          </a:p>
          <a:p>
            <a:pPr algn="ctr">
              <a:spcAft>
                <a:spcPts val="400"/>
              </a:spcAft>
              <a:defRPr sz="950" b="1">
                <a:solidFill>
                  <a:srgbClr val="7A8F8C"/>
                </a:solidFill>
                <a:latin typeface="Calibri"/>
              </a:defRPr>
            </a:pPr>
            <a:r>
              <a:t>NoSQL Database</a:t>
            </a:r>
          </a:p>
          <a:p>
            <a:pPr algn="ctr">
              <a:defRPr sz="850">
                <a:solidFill>
                  <a:srgbClr val="3E5C58"/>
                </a:solidFill>
                <a:latin typeface="Calibri"/>
              </a:defRPr>
            </a:pPr>
            <a:r>
              <a:t>Mongoose ODM v9, BSON document collections, compound unique indexes, and schema validations.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39311" y="1691640"/>
            <a:ext cx="2331720" cy="1965960"/>
          </a:xfrm>
          <a:prstGeom prst="roundRect">
            <a:avLst/>
          </a:prstGeom>
          <a:solidFill>
            <a:srgbClr val="F4FAF9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783080"/>
            <a:ext cx="2057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28090"/>
                </a:solidFill>
                <a:latin typeface="Calibri"/>
              </a:defRPr>
            </a:pPr>
            <a:r>
              <a:t>Express.js</a:t>
            </a:r>
          </a:p>
          <a:p>
            <a:pPr algn="ctr">
              <a:spcAft>
                <a:spcPts val="400"/>
              </a:spcAft>
              <a:defRPr sz="950" b="1">
                <a:solidFill>
                  <a:srgbClr val="7A8F8C"/>
                </a:solidFill>
                <a:latin typeface="Calibri"/>
              </a:defRPr>
            </a:pPr>
            <a:r>
              <a:t>Backend Framework</a:t>
            </a:r>
          </a:p>
          <a:p>
            <a:pPr algn="ctr">
              <a:defRPr sz="850">
                <a:solidFill>
                  <a:srgbClr val="3E5C58"/>
                </a:solidFill>
                <a:latin typeface="Calibri"/>
              </a:defRPr>
            </a:pPr>
            <a:r>
              <a:t>Node.js REST API framework with modular controllers, centralized error handling, and CORS.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91640"/>
            <a:ext cx="2331720" cy="1965960"/>
          </a:xfrm>
          <a:prstGeom prst="roundRect">
            <a:avLst/>
          </a:prstGeom>
          <a:solidFill>
            <a:srgbClr val="F4FAF9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18504" y="1783080"/>
            <a:ext cx="2057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A896"/>
                </a:solidFill>
                <a:latin typeface="Calibri"/>
              </a:defRPr>
            </a:pPr>
            <a:r>
              <a:t>React.js</a:t>
            </a:r>
          </a:p>
          <a:p>
            <a:pPr algn="ctr">
              <a:spcAft>
                <a:spcPts val="400"/>
              </a:spcAft>
              <a:defRPr sz="950" b="1">
                <a:solidFill>
                  <a:srgbClr val="7A8F8C"/>
                </a:solidFill>
                <a:latin typeface="Calibri"/>
              </a:defRPr>
            </a:pPr>
            <a:r>
              <a:t>Frontend Library</a:t>
            </a:r>
          </a:p>
          <a:p>
            <a:pPr algn="ctr">
              <a:defRPr sz="850">
                <a:solidFill>
                  <a:srgbClr val="3E5C58"/>
                </a:solidFill>
                <a:latin typeface="Calibri"/>
              </a:defRPr>
            </a:pPr>
            <a:r>
              <a:t>React 19 with Vite, functional components, hooks, React Router v7, and Tailwind CSS v4.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23376" y="1691640"/>
            <a:ext cx="2331720" cy="1965960"/>
          </a:xfrm>
          <a:prstGeom prst="roundRect">
            <a:avLst/>
          </a:prstGeom>
          <a:solidFill>
            <a:srgbClr val="F4FAF9"/>
          </a:solidFill>
          <a:ln w="19050">
            <a:solidFill>
              <a:srgbClr val="1B2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0536" y="1783080"/>
            <a:ext cx="20574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B2A2E"/>
                </a:solidFill>
                <a:latin typeface="Calibri"/>
              </a:defRPr>
            </a:pPr>
            <a:r>
              <a:t>Node.js</a:t>
            </a:r>
          </a:p>
          <a:p>
            <a:pPr algn="ctr">
              <a:spcAft>
                <a:spcPts val="400"/>
              </a:spcAft>
              <a:defRPr sz="950" b="1">
                <a:solidFill>
                  <a:srgbClr val="7A8F8C"/>
                </a:solidFill>
                <a:latin typeface="Calibri"/>
              </a:defRPr>
            </a:pPr>
            <a:r>
              <a:t>Runtime Environment</a:t>
            </a:r>
          </a:p>
          <a:p>
            <a:pPr algn="ctr">
              <a:defRPr sz="850">
                <a:solidFill>
                  <a:srgbClr val="3E5C58"/>
                </a:solidFill>
                <a:latin typeface="Calibri"/>
              </a:defRPr>
            </a:pPr>
            <a:r>
              <a:t>Asynchronous V8 event-driven JavaScript runtime executing server APIs and local NLP engines.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3886200"/>
            <a:ext cx="996696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977639"/>
            <a:ext cx="9601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1B2A2E"/>
                </a:solidFill>
                <a:latin typeface="Calibri"/>
              </a:defRPr>
            </a:pPr>
            <a:r>
              <a:t>Supporting Libraries, AI Tools &amp; Development Ecosystem</a:t>
            </a:r>
          </a:p>
          <a:p>
            <a:pPr>
              <a:spcAft>
                <a:spcPts val="300"/>
              </a:spcAft>
              <a:defRPr sz="900" b="1">
                <a:solidFill>
                  <a:srgbClr val="028090"/>
                </a:solidFill>
                <a:latin typeface="Calibri"/>
              </a:defRPr>
            </a:pPr>
            <a:r>
              <a:t>•  AI / NLP Processing: </a:t>
            </a:r>
            <a:r>
              <a:rPr sz="900" b="0">
                <a:solidFill>
                  <a:srgbClr val="3E5C58"/>
                </a:solidFill>
                <a:latin typeface="Calibri"/>
              </a:rPr>
              <a:t>natural (TF-IDF semantic similarity), compromise (NLP entity &amp; phrase extraction), pdf-parse (PDF extraction), mammoth (DOCX conversion)</a:t>
            </a:r>
          </a:p>
          <a:p>
            <a:pPr>
              <a:spcAft>
                <a:spcPts val="300"/>
              </a:spcAft>
              <a:defRPr sz="900" b="1">
                <a:solidFill>
                  <a:srgbClr val="028090"/>
                </a:solidFill>
                <a:latin typeface="Calibri"/>
              </a:defRPr>
            </a:pPr>
            <a:r>
              <a:t>•  Authentication &amp; Security: </a:t>
            </a:r>
            <a:r>
              <a:rPr sz="900" b="0">
                <a:solidFill>
                  <a:srgbClr val="3E5C58"/>
                </a:solidFill>
                <a:latin typeface="Calibri"/>
              </a:rPr>
              <a:t>jsonwebtoken (JWT signed token authorization), bcryptjs (password hashing with 10 salt rounds), cors (cross-origin middleware)</a:t>
            </a:r>
          </a:p>
          <a:p>
            <a:pPr>
              <a:spcAft>
                <a:spcPts val="300"/>
              </a:spcAft>
              <a:defRPr sz="900" b="1">
                <a:solidFill>
                  <a:srgbClr val="028090"/>
                </a:solidFill>
                <a:latin typeface="Calibri"/>
              </a:defRPr>
            </a:pPr>
            <a:r>
              <a:t>•  Frontend Ecosystem: </a:t>
            </a:r>
            <a:r>
              <a:rPr sz="900" b="0">
                <a:solidFill>
                  <a:srgbClr val="3E5C58"/>
                </a:solidFill>
                <a:latin typeface="Calibri"/>
              </a:rPr>
              <a:t>react-router-dom v7 (client routing), axios (REST client with JWT interceptors), tailwindcss v4, lucide-react (vector icons), canvas-confetti</a:t>
            </a:r>
          </a:p>
          <a:p>
            <a:pPr>
              <a:spcAft>
                <a:spcPts val="300"/>
              </a:spcAft>
              <a:defRPr sz="900" b="1">
                <a:solidFill>
                  <a:srgbClr val="028090"/>
                </a:solidFill>
                <a:latin typeface="Calibri"/>
              </a:defRPr>
            </a:pPr>
            <a:r>
              <a:t>•  Development &amp; Testing: </a:t>
            </a:r>
            <a:r>
              <a:rPr sz="900" b="0">
                <a:solidFill>
                  <a:srgbClr val="3E5C58"/>
                </a:solidFill>
                <a:latin typeface="Calibri"/>
              </a:rPr>
              <a:t>Node.js Native Assert Integration Test Suite (12/12 passing), Postman (API verification), Git &amp; GitHub (version control), VS Code 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Tech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UI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UI Design / Wireframes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4754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_recruit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1709928"/>
            <a:ext cx="4718304" cy="211226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97280" y="4023360"/>
            <a:ext cx="47548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7_candidate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4041648"/>
            <a:ext cx="4718304" cy="21122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126480" y="1691640"/>
            <a:ext cx="4937760" cy="4480560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874519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B2A2E"/>
                </a:solidFill>
                <a:latin typeface="Calibri"/>
              </a:defRPr>
            </a:pPr>
            <a:r>
              <a:t>Design System &amp; UI Architecture</a:t>
            </a:r>
          </a:p>
          <a:p>
            <a:pPr>
              <a:spcAft>
                <a:spcPts val="500"/>
              </a:spcAft>
              <a:defRPr sz="900" b="1">
                <a:solidFill>
                  <a:srgbClr val="028090"/>
                </a:solidFill>
                <a:latin typeface="Calibri"/>
              </a:defRPr>
            </a:pPr>
            <a:r>
              <a:t>•  Dual-Role Workspace Ergonomics: </a:t>
            </a:r>
            <a:r>
              <a:rPr sz="900" b="0">
                <a:solidFill>
                  <a:srgbClr val="3E5C58"/>
                </a:solidFill>
                <a:latin typeface="Calibri"/>
              </a:rPr>
              <a:t>Distinct user interfaces engineered specifically for Recruiter high-volume screening vs Candidate self-serve application management.</a:t>
            </a:r>
          </a:p>
          <a:p>
            <a:pPr>
              <a:spcAft>
                <a:spcPts val="500"/>
              </a:spcAft>
              <a:defRPr sz="900" b="1">
                <a:solidFill>
                  <a:srgbClr val="028090"/>
                </a:solidFill>
                <a:latin typeface="Calibri"/>
              </a:defRPr>
            </a:pPr>
            <a:r>
              <a:t>•  Modern High-Contrast Dark Theme: </a:t>
            </a:r>
            <a:r>
              <a:rPr sz="900" b="0">
                <a:solidFill>
                  <a:srgbClr val="3E5C58"/>
                </a:solidFill>
                <a:latin typeface="Calibri"/>
              </a:rPr>
              <a:t>Styled with Slate-950 background (#020617) and Emerald-500 highlights to minimize eye fatigue during extended candidate review sessions.</a:t>
            </a:r>
          </a:p>
          <a:p>
            <a:pPr>
              <a:spcAft>
                <a:spcPts val="500"/>
              </a:spcAft>
              <a:defRPr sz="900" b="1">
                <a:solidFill>
                  <a:srgbClr val="028090"/>
                </a:solidFill>
                <a:latin typeface="Calibri"/>
              </a:defRPr>
            </a:pPr>
            <a:r>
              <a:t>•  Tailwind CSS v4 Responsive Grids: </a:t>
            </a:r>
            <a:r>
              <a:rPr sz="900" b="0">
                <a:solidFill>
                  <a:srgbClr val="3E5C58"/>
                </a:solidFill>
                <a:latin typeface="Calibri"/>
              </a:rPr>
              <a:t>Fluid breakpoint system (sm, md, lg, xl) adapting from mobile handheld screens to ultra-wide desktop monitors.</a:t>
            </a:r>
          </a:p>
          <a:p>
            <a:pPr>
              <a:spcAft>
                <a:spcPts val="500"/>
              </a:spcAft>
              <a:defRPr sz="900" b="1">
                <a:solidFill>
                  <a:srgbClr val="028090"/>
                </a:solidFill>
                <a:latin typeface="Calibri"/>
              </a:defRPr>
            </a:pPr>
            <a:r>
              <a:t>•  Transparent AI Match Indicators: </a:t>
            </a:r>
            <a:r>
              <a:rPr sz="900" b="0">
                <a:solidFill>
                  <a:srgbClr val="3E5C58"/>
                </a:solidFill>
                <a:latin typeface="Calibri"/>
              </a:rPr>
              <a:t>Color-coded MatchScoreBadges (Strong 80%+, Good 65-79%, Potential 50-64%, Low &lt;50%) provide immediate visual triage.</a:t>
            </a:r>
          </a:p>
          <a:p>
            <a:pPr>
              <a:spcAft>
                <a:spcPts val="500"/>
              </a:spcAft>
              <a:defRPr sz="900" b="1">
                <a:solidFill>
                  <a:srgbClr val="028090"/>
                </a:solidFill>
                <a:latin typeface="Calibri"/>
              </a:defRPr>
            </a:pPr>
            <a:r>
              <a:t>•  Zero-Page-Reload Modals: </a:t>
            </a:r>
            <a:r>
              <a:rPr sz="900" b="0">
                <a:solidFill>
                  <a:srgbClr val="3E5C58"/>
                </a:solidFill>
                <a:latin typeface="Calibri"/>
              </a:rPr>
              <a:t>Overlay modal workflows for Job Creation, Candidate Detail inspection, and Interview Scheduling with Google Meet links.</a:t>
            </a:r>
          </a:p>
          <a:p>
            <a:pPr>
              <a:spcAft>
                <a:spcPts val="500"/>
              </a:spcAft>
              <a:defRPr sz="900" b="1">
                <a:solidFill>
                  <a:srgbClr val="028090"/>
                </a:solidFill>
                <a:latin typeface="Calibri"/>
              </a:defRPr>
            </a:pPr>
            <a:r>
              <a:t>•  Interactive Delight: </a:t>
            </a:r>
            <a:r>
              <a:rPr sz="900" b="0">
                <a:solidFill>
                  <a:srgbClr val="3E5C58"/>
                </a:solidFill>
                <a:latin typeface="Calibri"/>
              </a:rPr>
              <a:t>Confetti burst animations (canvas-confetti) on successful application submissions and interactive stage transitions.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UI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Frontend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691640"/>
            <a:ext cx="9966960" cy="3794760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96012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Modern React 19 Architecture: </a:t>
            </a:r>
            <a:r>
              <a:rPr sz="1000" b="0">
                <a:solidFill>
                  <a:srgbClr val="3E5C58"/>
                </a:solidFill>
                <a:latin typeface="Calibri"/>
              </a:rPr>
              <a:t>Engineered using functional components and hooks (useState, useEffect, useContext, useParams, useNavigate) for declarative UI rendering.</a:t>
            </a:r>
          </a:p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Modular Component Decomposition: </a:t>
            </a:r>
            <a:r>
              <a:rPr sz="1000" b="0">
                <a:solidFill>
                  <a:srgbClr val="3E5C58"/>
                </a:solidFill>
                <a:latin typeface="Calibri"/>
              </a:rPr>
              <a:t>Reusable components including Navbar, ProtectedRoute, JobFormModal, CandidateDetailModal, ScheduleInterviewModal, ScoreBreakdownModal, and MatchScoreBadge.</a:t>
            </a:r>
          </a:p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Client-Side Routing (React Router v7): </a:t>
            </a:r>
            <a:r>
              <a:rPr sz="1000" b="0">
                <a:solidFill>
                  <a:srgbClr val="3E5C58"/>
                </a:solidFill>
                <a:latin typeface="Calibri"/>
              </a:rPr>
              <a:t>Configured in App.jsx with public routes (/, /login, /register, /jobs, /jobs/:id) and role-protected routes (/recruiter-dashboard, /pipeline, /candidate-dashboard, /resume-upload, /my-applications).</a:t>
            </a:r>
          </a:p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State Management via Context API: </a:t>
            </a:r>
            <a:r>
              <a:rPr sz="1000" b="0">
                <a:solidFill>
                  <a:srgbClr val="3E5C58"/>
                </a:solidFill>
                <a:latin typeface="Calibri"/>
              </a:rPr>
              <a:t>AuthContext.jsx provides global authentication state, token validation on mount, login/register actions, and synchronized localStorage persistence.</a:t>
            </a:r>
          </a:p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HTTP Client &amp; Interceptors (Axios): </a:t>
            </a:r>
            <a:r>
              <a:rPr sz="1000" b="0">
                <a:solidFill>
                  <a:srgbClr val="3E5C58"/>
                </a:solidFill>
                <a:latin typeface="Calibri"/>
              </a:rPr>
              <a:t>Centralized API service in api.js pre-configured with baseURL, timeout limits, and automated Bearer token attachment to request headers.</a:t>
            </a:r>
          </a:p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Responsive Styling (Tailwind CSS v4): </a:t>
            </a:r>
            <a:r>
              <a:rPr sz="1000" b="0">
                <a:solidFill>
                  <a:srgbClr val="3E5C58"/>
                </a:solidFill>
                <a:latin typeface="Calibri"/>
              </a:rPr>
              <a:t>Utility-first styling with responsive flex/grid layouts, smooth CSS transitions, dark-mode styling, and Lucide React iconography.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650992"/>
            <a:ext cx="9966960" cy="566928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5760720"/>
            <a:ext cx="9509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i="1">
                <a:solidFill>
                  <a:srgbClr val="3E5C58"/>
                </a:solidFill>
                <a:latin typeface="Calibri"/>
              </a:defRPr>
            </a:pPr>
            <a:r>
              <a:t>Tip: The frontend implementation includes 10 dedicated view pages, 7 interactive modals, and full client-side RBAC protection with zero external CSS frameworks.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Backend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691640"/>
            <a:ext cx="9966960" cy="3794760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96012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Modular MVC Architecture: </a:t>
            </a:r>
            <a:r>
              <a:rPr sz="1000" b="0">
                <a:solidFill>
                  <a:srgbClr val="3E5C58"/>
                </a:solidFill>
                <a:latin typeface="Calibri"/>
              </a:rPr>
              <a:t>Strict separation across routes (src/routes/), controllers (src/controllers/), services (src/services/), models (src/models/), and middlewares (src/middlewares/).</a:t>
            </a:r>
          </a:p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Node.js &amp; Express.js Server: </a:t>
            </a:r>
            <a:r>
              <a:rPr sz="1000" b="0">
                <a:solidFill>
                  <a:srgbClr val="3E5C58"/>
                </a:solidFill>
                <a:latin typeface="Calibri"/>
              </a:rPr>
              <a:t>High-throughput REST API runtime in server.js and app.js configured with express.json({ limit: '20mb' }), express.urlencoded, and Morgan request logger.</a:t>
            </a:r>
          </a:p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Authentication &amp; RBAC Middleware: </a:t>
            </a:r>
            <a:r>
              <a:rPr sz="1000" b="0">
                <a:solidFill>
                  <a:srgbClr val="3E5C58"/>
                </a:solidFill>
                <a:latin typeface="Calibri"/>
              </a:rPr>
              <a:t>Custom protect middleware decoding Bearer JWT tokens against JWT_SECRET; authorize('recruiter', 'candidate') middleware enforcing role boundaries.</a:t>
            </a:r>
          </a:p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Resume Ingestion &amp; Multer Pipeline: </a:t>
            </a:r>
            <a:r>
              <a:rPr sz="1000" b="0">
                <a:solidFill>
                  <a:srgbClr val="3E5C58"/>
                </a:solidFill>
                <a:latin typeface="Calibri"/>
              </a:rPr>
              <a:t>Configured in upload.js with diskStorage, sanitized filenames, and mimeType validation supporting PDF and DOCX files up to 10MB.</a:t>
            </a:r>
          </a:p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Centralized Error Handling: </a:t>
            </a:r>
            <a:r>
              <a:rPr sz="1000" b="0">
                <a:solidFill>
                  <a:srgbClr val="3E5C58"/>
                </a:solidFill>
                <a:latin typeface="Calibri"/>
              </a:rPr>
              <a:t>Custom errorHandler middleware intercepting Mongoose CastError, duplicate key error (code 11000), and validation failures with standard JSON errors.</a:t>
            </a:r>
          </a:p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Environment Configuration &amp; Security: </a:t>
            </a:r>
            <a:r>
              <a:rPr sz="1000" b="0">
                <a:solidFill>
                  <a:srgbClr val="3E5C58"/>
                </a:solidFill>
                <a:latin typeface="Calibri"/>
              </a:rPr>
              <a:t>Dynamic configuration via dotenv (.env), secure CORS origin allowance, and isolated service contracts for AI swapping.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650992"/>
            <a:ext cx="9966960" cy="566928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5760720"/>
            <a:ext cx="9509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i="1">
                <a:solidFill>
                  <a:srgbClr val="3E5C58"/>
                </a:solidFill>
                <a:latin typeface="Calibri"/>
              </a:defRPr>
            </a:pPr>
            <a:r>
              <a:t>Tip: Backend verified with 100% pass rate (12/12 assertions) in test/api.test.js covering authentication, job CRUD, NLP parsing, and Kanban stage transitions.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Database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691640"/>
            <a:ext cx="9966960" cy="3794760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96012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Data Store &amp; Connection: </a:t>
            </a:r>
            <a:r>
              <a:rPr sz="1000" b="0">
                <a:solidFill>
                  <a:srgbClr val="3E5C58"/>
                </a:solidFill>
                <a:latin typeface="Calibri"/>
              </a:rPr>
              <a:t>MongoDB instance (local mongodb://127.0.0.1:27017/ai-recruit-pro or MongoDB Atlas URI) connected using Mongoose ODM with connection pooling.</a:t>
            </a:r>
          </a:p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Collection Modeling: </a:t>
            </a:r>
            <a:r>
              <a:rPr sz="1000" b="0">
                <a:solidFill>
                  <a:srgbClr val="3E5C58"/>
                </a:solidFill>
                <a:latin typeface="Calibri"/>
              </a:rPr>
              <a:t>4 core collections: users (credentials &amp; roles), jobs (requisition parameters), candidateprofiles (parsed resume taxonomy), and applications (pipeline states).</a:t>
            </a:r>
          </a:p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Relational Referencing: </a:t>
            </a:r>
            <a:r>
              <a:rPr sz="1000" b="0">
                <a:solidFill>
                  <a:srgbClr val="3E5C58"/>
                </a:solidFill>
                <a:latin typeface="Calibri"/>
              </a:rPr>
              <a:t>Mongoose ObjectId references (ref: 'User', ref: 'Job', ref: 'CandidateProfile') with populate() queries for candidate names, jobs, and audit users.</a:t>
            </a:r>
          </a:p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Database Indexing Strategy: </a:t>
            </a:r>
            <a:r>
              <a:rPr sz="1000" b="0">
                <a:solidFill>
                  <a:srgbClr val="3E5C58"/>
                </a:solidFill>
                <a:latin typeface="Calibri"/>
              </a:rPr>
              <a:t>Unique index on users.email, compound unique index on applications(job, candidate) preventing duplicate applies, and text indexes on jobs.</a:t>
            </a:r>
          </a:p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Embedded Subdocuments: </a:t>
            </a:r>
            <a:r>
              <a:rPr sz="1000" b="0">
                <a:solidFill>
                  <a:srgbClr val="3E5C58"/>
                </a:solidFill>
                <a:latin typeface="Calibri"/>
              </a:rPr>
              <a:t>Denormalized subdocuments for experience, education, stageHistory, and interviewDetails provide zero-join sub-millisecond retrieval.</a:t>
            </a:r>
          </a:p>
          <a:p>
            <a:pPr>
              <a:spcAft>
                <a:spcPts val="600"/>
              </a:spcAft>
              <a:defRPr sz="1000" b="1">
                <a:solidFill>
                  <a:srgbClr val="1B2A2E"/>
                </a:solidFill>
                <a:latin typeface="Calibri"/>
              </a:defRPr>
            </a:pPr>
            <a:r>
              <a:t>•  End-to-End CRUD Persistence: </a:t>
            </a:r>
            <a:r>
              <a:rPr sz="1000" b="0">
                <a:solidFill>
                  <a:srgbClr val="3E5C58"/>
                </a:solidFill>
                <a:latin typeface="Calibri"/>
              </a:rPr>
              <a:t>Client React actions trigger Axios requests, validated by Express controllers, and persisted via Mongoose pre/post hooks to MongoDB.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5650992"/>
            <a:ext cx="9966960" cy="566928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5760720"/>
            <a:ext cx="950976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i="1">
                <a:solidFill>
                  <a:srgbClr val="3E5C58"/>
                </a:solidFill>
                <a:latin typeface="Calibri"/>
              </a:defRPr>
            </a:pPr>
            <a:r>
              <a:t>Tip: Database includes an automated seeder (seed.js) pre-populating verified recruiters, realistic candidate profiles, and live Kanban pipeline applications.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API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691640"/>
          <a:ext cx="9966960" cy="3877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023360"/>
                <a:gridCol w="4754880"/>
              </a:tblGrid>
              <a:tr h="403167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Method</a:t>
                      </a:r>
                    </a:p>
                  </a:txBody>
                  <a:tcPr anchor="ctr">
                    <a:solidFill>
                      <a:srgbClr val="00A8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Endpoint</a:t>
                      </a:r>
                    </a:p>
                  </a:txBody>
                  <a:tcPr anchor="ctr">
                    <a:solidFill>
                      <a:srgbClr val="00A8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00A89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/api/auth/register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Register new recruiter or candidate account with bcrypt password hashing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/api/auth/login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Authenticate user credentials and issue signed JWT Bearer token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/api/jobs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Retrieve active job postings with keyword, type, location, and experience filters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/api/jobs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(Recruiter) Create a new job requisition with required skills and criteria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/api/resume/upload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Upload resume file (PDF/DOCX/TXT), execute NLP extraction, and save profile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/api/matching/job/:jobId/ranked-candidates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(Recruiter) Compute multi-factor fit scores and return ranked candidates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/api/applications/apply/:jobId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(Candidate) 1-click application submission with instant AI compatibility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GET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/api/applications/job/:jobId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(Recruiter) Retrieve all applicants for a job categorized by Kanban stage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PUT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/api/applications/:id/stage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(Recruiter) Advance candidate stage with timestamped transition audit note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PUT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/api/applications/:id/schedule-interview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(Recruiter) Schedule interview with date, round type, and video meeting URL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Module-wise Implementation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3931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2A2E"/>
                </a:solidFill>
                <a:latin typeface="Calibri"/>
              </a:defRPr>
            </a:pPr>
            <a:r>
              <a:t>User Authentication &amp; RBAC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819656"/>
            <a:ext cx="5303520" cy="219456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120640" y="1819656"/>
            <a:ext cx="5303520" cy="21945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07040" y="1737360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40280"/>
            <a:ext cx="3931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2A2E"/>
                </a:solidFill>
                <a:latin typeface="Calibri"/>
              </a:defRPr>
            </a:pPr>
            <a:r>
              <a:t>Job Requisition Management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2322576"/>
            <a:ext cx="5303520" cy="219456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20640" y="2322576"/>
            <a:ext cx="5303520" cy="21945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07040" y="2240280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743200"/>
            <a:ext cx="3931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2A2E"/>
                </a:solidFill>
                <a:latin typeface="Calibri"/>
              </a:defRPr>
            </a:pPr>
            <a:r>
              <a:t>Modular NLP Resume Parser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20640" y="2825496"/>
            <a:ext cx="5303520" cy="219456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0" y="2825496"/>
            <a:ext cx="5303520" cy="21945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0" y="2743200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246120"/>
            <a:ext cx="3931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2A2E"/>
                </a:solidFill>
                <a:latin typeface="Calibri"/>
              </a:defRPr>
            </a:pPr>
            <a:r>
              <a:t>Multi-Factor AI Matching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3328416"/>
            <a:ext cx="5303520" cy="219456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20640" y="3328416"/>
            <a:ext cx="5303520" cy="21945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0" y="3246120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749040"/>
            <a:ext cx="3931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2A2E"/>
                </a:solidFill>
                <a:latin typeface="Calibri"/>
              </a:defRPr>
            </a:pPr>
            <a:r>
              <a:t>6-Stage Kanban Pipeline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120640" y="3831336"/>
            <a:ext cx="5303520" cy="219456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120640" y="3831336"/>
            <a:ext cx="5303520" cy="21945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0" y="3749040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251960"/>
            <a:ext cx="3931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2A2E"/>
                </a:solidFill>
                <a:latin typeface="Calibri"/>
              </a:defRPr>
            </a:pPr>
            <a:r>
              <a:t>Interview Scheduling &amp; Alerts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20640" y="4334256"/>
            <a:ext cx="5303520" cy="219456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120640" y="4334256"/>
            <a:ext cx="5303520" cy="21945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0" y="4251960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4754880"/>
            <a:ext cx="3931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2A2E"/>
                </a:solidFill>
                <a:latin typeface="Calibri"/>
              </a:defRPr>
            </a:pPr>
            <a:r>
              <a:t>Role-Specific Dashboards (Recruiter / Candidate)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4837176"/>
            <a:ext cx="5303520" cy="219456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20640" y="4837176"/>
            <a:ext cx="5303520" cy="21945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07040" y="4754880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257800"/>
            <a:ext cx="39319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B2A2E"/>
                </a:solidFill>
                <a:latin typeface="Calibri"/>
              </a:defRPr>
            </a:pPr>
            <a:r>
              <a:t>Automated Backend Test Suite (12/12 Passing)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20640" y="5340096"/>
            <a:ext cx="5303520" cy="219456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120640" y="5340096"/>
            <a:ext cx="5303520" cy="219456"/>
          </a:xfrm>
          <a:prstGeom prst="round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607040" y="5257800"/>
            <a:ext cx="8229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28090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5806440"/>
            <a:ext cx="9966960" cy="438912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852160"/>
            <a:ext cx="9601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50" b="1">
                <a:solidFill>
                  <a:srgbClr val="028090"/>
                </a:solidFill>
                <a:latin typeface="Calibri"/>
              </a:defRPr>
            </a:pPr>
            <a:r>
              <a:t>Status Summary: All 8 core architectural modules fully implemented, verified, and passing automated integration tests.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Application Screenshots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97280" y="1691640"/>
            <a:ext cx="4800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_recruit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" y="1728216"/>
            <a:ext cx="4727448" cy="170078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88720" y="3474720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B2A2E"/>
                </a:solidFill>
                <a:latin typeface="Calibri"/>
              </a:defRPr>
            </a:pPr>
            <a:r>
              <a:t>Recruiter Dashboard: Real-time talent metrics, job vacancies, and applicant activity stream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691640"/>
            <a:ext cx="4800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5_kanban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728216"/>
            <a:ext cx="4727448" cy="170078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79" y="3474720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B2A2E"/>
                </a:solidFill>
                <a:latin typeface="Calibri"/>
              </a:defRPr>
            </a:pPr>
            <a:r>
              <a:t>6-Stage Kanban Pipeline: Drag-and-drop candidate advancement with integrated interview triggers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3977639"/>
            <a:ext cx="4800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6_candidate_rank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3856" y="4014215"/>
            <a:ext cx="4727448" cy="17007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88720" y="5760720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B2A2E"/>
                </a:solidFill>
                <a:latin typeface="Calibri"/>
              </a:defRPr>
            </a:pPr>
            <a:r>
              <a:t>AI Candidate Ranking: Multi-factor score breakdown (50/25/15/10), match tiers, and skill gaps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3977639"/>
            <a:ext cx="48006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7_candidate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0216" y="4014215"/>
            <a:ext cx="4727448" cy="170078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55079" y="5760720"/>
            <a:ext cx="4617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 b="1">
                <a:solidFill>
                  <a:srgbClr val="1B2A2E"/>
                </a:solidFill>
                <a:latin typeface="Calibri"/>
              </a:defRPr>
            </a:pPr>
            <a:r>
              <a:t>Candidate Dashboard: Parsed resume profile, 1-click application tracker, and interview alerts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Screenshots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Challenges Faced &amp;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691640"/>
          <a:ext cx="99669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5852160"/>
              </a:tblGrid>
              <a:tr h="731520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Challenge Encountered</a:t>
                      </a:r>
                    </a:p>
                  </a:txBody>
                  <a:tcPr anchor="ctr">
                    <a:solidFill>
                      <a:srgbClr val="00A8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Solution Adopted &amp; Engineering Resolution</a:t>
                      </a:r>
                    </a:p>
                  </a:txBody>
                  <a:tcPr anchor="ctr">
                    <a:solidFill>
                      <a:srgbClr val="00A896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Heterogeneous Resume File Formats</a:t>
                      </a:r>
                      <a:br/>
                      <a:r>
                        <a:t>Handling inconsistent PDF, DOCX, and TXT binary layouts with irregular line breaks and tabular data.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Implemented dual binary parsing via pdf-parse and mammoth with fallback plain-text buffer decoding, feeding a unified NLP extraction pipeline.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Keyword Stuffing &amp; ATS Vulnerabilities</a:t>
                      </a:r>
                      <a:br/>
                      <a:r>
                        <a:t>Candidates inflating scores by repeating required keywords without genuine domain experience.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Engineered a multi-factor formula: 50% skills overlap, 25% verified years of experience, 15% degree level, and 10% TF-IDF semantic relevance.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Technical Skill Synonym Discrepancies</a:t>
                      </a:r>
                      <a:br/>
                      <a:r>
                        <a:t>Varied terminology in resumes vs job postings (e.g., 'ReactJS' vs 'React', 'K8s' vs 'Kubernetes').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Constructed a curated 500+ skill taxonomy dictionary with bidirectional synonym maps and case-insensitive substring matching.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Duplicate Application Submissions</a:t>
                      </a:r>
                      <a:br/>
                      <a:r>
                        <a:t>Preventing race conditions and accidental duplicate submissions when candidates click apply rapidly.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Enforced a compound unique database index on (job, candidate) in Mongoose Application schema, returning idempotent HTTP error responses.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Auditability Across 6 Hiring Stages</a:t>
                      </a:r>
                      <a:br/>
                      <a:r>
                        <a:t>Tracking stage transitions, updater identity, and interviewer notes over the multi-week hiring lifecycle.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Engineered an embedded stageHistory subdocument array capturing transition stage, updater User ObjectId, timestamp, and audit notes.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Remaining Work &amp;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691640"/>
            <a:ext cx="9966960" cy="4434840"/>
          </a:xfrm>
          <a:prstGeom prst="roundRect">
            <a:avLst/>
          </a:prstGeom>
          <a:solidFill>
            <a:srgbClr val="F4FAF9"/>
          </a:solidFill>
          <a:ln w="12700">
            <a:solidFill>
              <a:srgbClr val="D7E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874519"/>
            <a:ext cx="9601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050" b="1">
                <a:solidFill>
                  <a:srgbClr val="1B2A2E"/>
                </a:solidFill>
                <a:latin typeface="Calibri"/>
              </a:defRPr>
            </a:pPr>
            <a:r>
              <a:t>•  Frontend Component Testing: </a:t>
            </a:r>
            <a:r>
              <a:rPr sz="1050" b="0">
                <a:solidFill>
                  <a:srgbClr val="3E5C58"/>
                </a:solidFill>
                <a:latin typeface="Calibri"/>
              </a:rPr>
              <a:t>Expand automated test coverage from backend API tests (12/12 passing) to React component unit testing using Vitest and React Testing Library.</a:t>
            </a:r>
          </a:p>
          <a:p>
            <a:pPr>
              <a:spcAft>
                <a:spcPts val="1000"/>
              </a:spcAft>
              <a:defRPr sz="1050" b="1">
                <a:solidFill>
                  <a:srgbClr val="1B2A2E"/>
                </a:solidFill>
                <a:latin typeface="Calibri"/>
              </a:defRPr>
            </a:pPr>
            <a:r>
              <a:t>•  Cloud Production Deployment: </a:t>
            </a:r>
            <a:r>
              <a:rPr sz="1050" b="0">
                <a:solidFill>
                  <a:srgbClr val="3E5C58"/>
                </a:solidFill>
                <a:latin typeface="Calibri"/>
              </a:rPr>
              <a:t>Containerize the Node.js backend using Docker; deploy Express API to Render/AWS, host React SPA on Vercel, and migrate MongoDB to managed MongoDB Atlas.</a:t>
            </a:r>
          </a:p>
          <a:p>
            <a:pPr>
              <a:spcAft>
                <a:spcPts val="1000"/>
              </a:spcAft>
              <a:defRPr sz="1050" b="1">
                <a:solidFill>
                  <a:srgbClr val="1B2A2E"/>
                </a:solidFill>
                <a:latin typeface="Calibri"/>
              </a:defRPr>
            </a:pPr>
            <a:r>
              <a:t>•  LLM Plug-and-Play Swapping: </a:t>
            </a:r>
            <a:r>
              <a:rPr sz="1050" b="0">
                <a:solidFill>
                  <a:srgbClr val="3E5C58"/>
                </a:solidFill>
                <a:latin typeface="Calibri"/>
              </a:rPr>
              <a:t>Leverage the decoupled parser service architecture to optionally swap local NLP with Google Gemini 1.5 or OpenAI GPT-4o structured JSON outputs for contextual summaries.</a:t>
            </a:r>
          </a:p>
          <a:p>
            <a:pPr>
              <a:spcAft>
                <a:spcPts val="1000"/>
              </a:spcAft>
              <a:defRPr sz="1050" b="1">
                <a:solidFill>
                  <a:srgbClr val="1B2A2E"/>
                </a:solidFill>
                <a:latin typeface="Calibri"/>
              </a:defRPr>
            </a:pPr>
            <a:r>
              <a:t>•  Automated Candidate Email Alerts: </a:t>
            </a:r>
            <a:r>
              <a:rPr sz="1050" b="0">
                <a:solidFill>
                  <a:srgbClr val="3E5C58"/>
                </a:solidFill>
                <a:latin typeface="Calibri"/>
              </a:rPr>
              <a:t>Integrate Nodemailer or SendGrid webhooks for real-time transactional email notifications upon Kanban stage advancement and interview scheduling.</a:t>
            </a:r>
          </a:p>
          <a:p>
            <a:pPr>
              <a:spcAft>
                <a:spcPts val="1000"/>
              </a:spcAft>
              <a:defRPr sz="1050" b="1">
                <a:solidFill>
                  <a:srgbClr val="1B2A2E"/>
                </a:solidFill>
                <a:latin typeface="Calibri"/>
              </a:defRPr>
            </a:pPr>
            <a:r>
              <a:t>•  Advanced Interview Intelligence: </a:t>
            </a:r>
            <a:r>
              <a:rPr sz="1050" b="0">
                <a:solidFill>
                  <a:srgbClr val="3E5C58"/>
                </a:solidFill>
                <a:latin typeface="Calibri"/>
              </a:rPr>
              <a:t>Incorporate speech-to-text audio transcription and AI-generated technical interview questions tailored to candidate missing skill gaps.</a:t>
            </a:r>
          </a:p>
          <a:p>
            <a:pPr>
              <a:spcAft>
                <a:spcPts val="1000"/>
              </a:spcAft>
              <a:defRPr sz="1050" b="1">
                <a:solidFill>
                  <a:srgbClr val="1B2A2E"/>
                </a:solidFill>
                <a:latin typeface="Calibri"/>
              </a:defRPr>
            </a:pPr>
            <a:r>
              <a:t>•  Academic Documentation &amp; Viva Voce: </a:t>
            </a:r>
            <a:r>
              <a:rPr sz="1050" b="0">
                <a:solidFill>
                  <a:srgbClr val="3E5C58"/>
                </a:solidFill>
                <a:latin typeface="Calibri"/>
              </a:rPr>
              <a:t>Finalize viva presentation defense slides, complete formal IEEE-formatted project documentation, and package demonstration sandboxes.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457200"/>
            <a:ext cx="502920" cy="502920"/>
          </a:xfrm>
          <a:prstGeom prst="round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457200"/>
            <a:ext cx="73152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0A896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200" b="1">
                <a:solidFill>
                  <a:srgbClr val="1B2A2E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1353312"/>
            <a:ext cx="10607040" cy="18288"/>
          </a:xfrm>
          <a:prstGeom prst="rect">
            <a:avLst/>
          </a:prstGeom>
          <a:solidFill>
            <a:srgbClr val="D7E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97280" y="1691640"/>
          <a:ext cx="9966960" cy="4357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"/>
                <a:gridCol w="7132320"/>
                <a:gridCol w="2286000"/>
              </a:tblGrid>
              <a:tr h="627017"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0A8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Reference Title, Authors &amp; Source Documentation</a:t>
                      </a:r>
                    </a:p>
                  </a:txBody>
                  <a:tcPr anchor="ctr">
                    <a:solidFill>
                      <a:srgbClr val="00A89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Domain / Usage</a:t>
                      </a:r>
                    </a:p>
                  </a:txBody>
                  <a:tcPr anchor="ctr">
                    <a:solidFill>
                      <a:srgbClr val="00A89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Meta Open Source — 'React 19 Documentation &amp; Hooks Architecture', Meta Platforms Inc., 2026. https://react.dev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Frontend User Interface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OpenJS Foundation — 'Node.js v20/22 LTS Runtime Environment Documentation', 2026. https://nodejs.org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Server Runtime Environment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Express.js Project — 'Express 4.x RESTful Routing, Middleware &amp; API Guide', 2026. https://expressjs.com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Backend Web Framework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MongoDB Inc. — 'Mongoose ODM v9 Guide: Schemas, Middleware, and Aggregation', 2026. https://mongoosejs.com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NoSQL Document Modeling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Natural Node Community — 'Natural: General Natural Language Facilities for NodeJS (TF-IDF &amp; Stemming)', 2026. https://naturalnode.github.io/natural/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NLP Semantic Relevance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>
                        <a:defRPr sz="950" b="1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Jurafsky, D., &amp; Martin, J. H. — 'Speech and Language Processing: An Introduction to Natural Language Processing', 3rd Ed., Prentice Hall.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950">
                          <a:solidFill>
                            <a:srgbClr val="1B2A2E"/>
                          </a:solidFill>
                          <a:latin typeface="Calibri"/>
                        </a:defRPr>
                      </a:pPr>
                      <a:r>
                        <a:t>Information Extraction &amp; NLP</a:t>
                      </a:r>
                    </a:p>
                  </a:txBody>
                  <a:tcPr anchor="ctr">
                    <a:solidFill>
                      <a:srgbClr val="F4FA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>
                <a:solidFill>
                  <a:srgbClr val="7A8F8C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5352" y="6446520"/>
            <a:ext cx="54864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000">
                <a:solidFill>
                  <a:srgbClr val="7A8F8C"/>
                </a:solidFill>
                <a:latin typeface="Calibri"/>
              </a:defRPr>
            </a:pPr>
            <a:r>
              <a:t>Review 1 &amp; 2  |  MERN Stack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